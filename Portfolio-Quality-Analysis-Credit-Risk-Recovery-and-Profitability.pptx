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6.png"/><Relationship Id="rId9" Type="http://schemas.openxmlformats.org/officeDocument/2006/relationships/image" Target="../media/image-7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5676"/>
            <a:ext cx="10868745" cy="87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Quality Analysis: Credit Risk, Recovery &amp; Profitability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411883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i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From portfolio diagnostics to an economically informed risk-management framework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84576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034282"/>
            <a:ext cx="5374644" cy="1001018"/>
          </a:xfrm>
          <a:prstGeom prst="roundRect">
            <a:avLst>
              <a:gd name="adj" fmla="val 589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8315" y="2181126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Scale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315" y="2472333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Substantial lending volume with significant credit-risk exposure across two product types in the Kenyan market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55576" y="2034282"/>
            <a:ext cx="5374644" cy="1001018"/>
          </a:xfrm>
          <a:prstGeom prst="roundRect">
            <a:avLst>
              <a:gd name="adj" fmla="val 589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2416" y="2181126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Risk Concentration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2416" y="2472333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 and delinquency concentrated in specific products and larger loan segments — not uniformly distributed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1475" y="3154759"/>
            <a:ext cx="5374644" cy="1001018"/>
          </a:xfrm>
          <a:prstGeom prst="roundRect">
            <a:avLst>
              <a:gd name="adj" fmla="val 589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15" y="3301603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Delinquency Maturity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8315" y="3592810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Outstanding exposure is heavily concentrated in very old delinquency; fresh 1–90 DPD is minimal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55576" y="3154759"/>
            <a:ext cx="5374644" cy="1001018"/>
          </a:xfrm>
          <a:prstGeom prst="roundRect">
            <a:avLst>
              <a:gd name="adj" fmla="val 589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2416" y="3301603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Recovery Limits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2416" y="3592810"/>
            <a:ext cx="50809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Recovery after default is limited, especially post-write-off; product economics diverge sharply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1475" y="4290120"/>
            <a:ext cx="3543211" cy="123448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015" y="4449663"/>
            <a:ext cx="322413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Predictive Signal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1015" y="4740870"/>
            <a:ext cx="3224132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Origination-only model AUC ~0.63 — useful but modest; not production-grade as a standalone credit decision tool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4143" y="4290120"/>
            <a:ext cx="3543311" cy="123448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3682" y="4449663"/>
            <a:ext cx="322423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Analytical Mandate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83682" y="4740870"/>
            <a:ext cx="322423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supports targeted early collections, controlled experimentation, risk-band prioritization, and data infrastructure investment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86910" y="4290120"/>
            <a:ext cx="3543311" cy="123448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6449" y="4449663"/>
            <a:ext cx="322423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Audience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146449" y="4740870"/>
            <a:ext cx="322423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Senior lending, credit, and portfolio leadership — findings are diagnostic and directional, not prescriptive policy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1475" y="5658941"/>
            <a:ext cx="10868745" cy="713284"/>
          </a:xfrm>
          <a:prstGeom prst="roundRect">
            <a:avLst>
              <a:gd name="adj" fmla="val 8278"/>
            </a:avLst>
          </a:prstGeom>
          <a:solidFill>
            <a:srgbClr val="D6F5EE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65" y="5830292"/>
            <a:ext cx="175712" cy="14049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18167" y="5813524"/>
            <a:ext cx="10271563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findings are based on origination-time variables and payment-linked analytics on the usable loan subset. Association findings do not establish causation. Profitability figures are proxies, not accounting NIM.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470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Quality Determines the Reliability of Risk Metrics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78133" y="1134765"/>
            <a:ext cx="5459871" cy="5071666"/>
          </a:xfrm>
          <a:prstGeom prst="roundRect">
            <a:avLst>
              <a:gd name="adj" fmla="val 1644"/>
            </a:avLst>
          </a:prstGeom>
          <a:solidFill>
            <a:srgbClr val="DFF7F1"/>
          </a:solidFill>
          <a:ln/>
        </p:spPr>
      </p:sp>
      <p:sp>
        <p:nvSpPr>
          <p:cNvPr id="4" name="Text 2"/>
          <p:cNvSpPr/>
          <p:nvPr/>
        </p:nvSpPr>
        <p:spPr>
          <a:xfrm>
            <a:off x="693819" y="1215727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Coverage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78124" y="1545530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221K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3819" y="2046188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Initial Loans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3819" y="2308027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loan records in the raw 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78124" y="2685355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188K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3819" y="3186013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Analytical Loans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3819" y="3447852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Usable for payment-linked risk analytics (84.9% coverage)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78124" y="3825180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35,855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3819" y="4325838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3819" y="4587677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Distinct borrowers across the portfolio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78124" y="4965005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3819" y="5465663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819" y="5727502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CASH_SALES and VERIFIED_SALES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3819" y="5976045"/>
            <a:ext cx="583808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Analysis cutoff: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25 February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0040" y="1134765"/>
            <a:ext cx="5459871" cy="5071666"/>
          </a:xfrm>
          <a:prstGeom prst="roundRect">
            <a:avLst>
              <a:gd name="adj" fmla="val 1644"/>
            </a:avLst>
          </a:prstGeom>
          <a:solidFill>
            <a:srgbClr val="FFF4E8"/>
          </a:solidFill>
          <a:ln/>
        </p:spPr>
      </p:sp>
      <p:sp>
        <p:nvSpPr>
          <p:cNvPr id="19" name="Text 17"/>
          <p:cNvSpPr/>
          <p:nvPr/>
        </p:nvSpPr>
        <p:spPr>
          <a:xfrm>
            <a:off x="6275727" y="1215727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Critical Data-Quality Issue: ~15% Loan-Code Ambiguity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5727" y="1477566"/>
            <a:ext cx="5228499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Approximately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15% of loans carry ambiguous or non-unique loan codes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These records have been excluded from all payment-linked risk metrics to prevent silent misallocation of payments across loan accounts.</a:t>
            </a:r>
            <a:endParaRPr lang="en-US" sz="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5727" y="2041029"/>
            <a:ext cx="5228499" cy="67607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54911" y="2169418"/>
            <a:ext cx="492092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Metrics Affected by Exclusion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54911" y="2431256"/>
            <a:ext cx="492092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 rate, DPD, PAR, recovery, write-offs, profitability proxy, and ML model features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5727" y="2798068"/>
            <a:ext cx="5228499" cy="67607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54911" y="2926457"/>
            <a:ext cx="492092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Records Retained For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54911" y="3188295"/>
            <a:ext cx="492092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volume counts and disbursement totals only — not risk analytics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727" y="3555107"/>
            <a:ext cx="5228499" cy="83353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54911" y="3683496"/>
            <a:ext cx="492092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Analytical Implication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54911" y="3945334"/>
            <a:ext cx="492092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a coverage constraint, not data corruption. Transparent exclusion enables reliable metrics on the usable 84.9% subset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275727" y="4479727"/>
            <a:ext cx="5228499" cy="518517"/>
          </a:xfrm>
          <a:prstGeom prst="roundRect">
            <a:avLst>
              <a:gd name="adj" fmla="val 9378"/>
            </a:avLst>
          </a:prstGeom>
          <a:solidFill>
            <a:srgbClr val="FCF2B5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413" y="4608909"/>
            <a:ext cx="144657" cy="11568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51756" y="4581525"/>
            <a:ext cx="473678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~15% data-quality limitation must be disclosed in any downstream risk reporting. Fixing the loan_code collision at source is an immediate operational priority.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4705"/>
            <a:ext cx="10868745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Health: High Default Exposure Despite Strong Settlement by Count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33467" y="1518047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KES 85.9B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1475" y="2059186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Disbursed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308721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187,936 analytical loans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25980" y="1518047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KES 457K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153988" y="2059186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Average Loan Size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53988" y="2308721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Loan-level average disbursement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33467" y="2730401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63.0%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61475" y="3271540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Default Rate (Count)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3521075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Point-in-time; does not equal permanent loss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25980" y="2730401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66.9%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53988" y="3271540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Default Rate (KES)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3988" y="3521075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exposure value — higher than count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33467" y="3942755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87.5%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1475" y="4483894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Settlement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1475" y="4733429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Loans eventually settled post-default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25980" y="3942755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27.0%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53988" y="4483894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Gross Interest Yield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53988" y="4733429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% of disbursed amount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1475" y="5104606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Understanding the Default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475" y="5391348"/>
            <a:ext cx="5283068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63.0% technical default rate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measures loans that missed their due date — it is a point-in-time performance measure, not a permanent-loss estimate. The notebook explicitly distinguishes initial default-by-due-date from subsequent settlement and recovery. With an 87.5% settlement rate and an average time-to-settlement of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28.7 days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settled loans, a significant portion of defaulted loans do eventually resolve.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53502" y="5104606"/>
            <a:ext cx="5283068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Exposure-Weighted Default Exceeds Count-Weighted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3502" y="5585123"/>
            <a:ext cx="5283068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default rate by KES exposure (66.9%) exceeds the count-based rate (63.0%), indicating that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larger loans default at higher rates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smaller ones. This is a critical risk-concentration signal: the portfolio's worst-performing loans are also its largest, amplifying absolute loss exposure beyond what count-based metrics suggest.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7597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Residual Book Is Extremely Mature in Delinquency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78133" y="940891"/>
            <a:ext cx="5459871" cy="5459512"/>
          </a:xfrm>
          <a:prstGeom prst="roundRect">
            <a:avLst>
              <a:gd name="adj" fmla="val 1527"/>
            </a:avLst>
          </a:prstGeom>
          <a:solidFill>
            <a:srgbClr val="DDF7F0"/>
          </a:solidFill>
          <a:ln/>
        </p:spPr>
      </p:sp>
      <p:sp>
        <p:nvSpPr>
          <p:cNvPr id="4" name="Text 2"/>
          <p:cNvSpPr/>
          <p:nvPr/>
        </p:nvSpPr>
        <p:spPr>
          <a:xfrm>
            <a:off x="693819" y="1021854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Delinquency &amp; Write-off Metrics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78124" y="1351657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149.1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3819" y="1852315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 DPD (Days)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3819" y="2114153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days past due across the portfolio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78124" y="2491482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~13%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3819" y="2992140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Loans with Balance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3819" y="3253978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of loans still carrying an outstanding balance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78124" y="3631307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~99.9%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3819" y="4131965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PAR120+ Share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3819" y="4393803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outstanding exposure — severely delinquent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78124" y="4771132"/>
            <a:ext cx="3659890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KES 13.0B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3819" y="5271790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Write-off Exposure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819" y="5533628"/>
            <a:ext cx="522849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99.5% write-off rate by value on matured loans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3819" y="5782171"/>
            <a:ext cx="5228499" cy="545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Median DPD: 0 days</a:t>
            </a:r>
            <a:pPr algn="l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reflects the high overall settlement rate masking the severity of the residual book.</a:t>
            </a:r>
            <a:endParaRPr lang="en-US" sz="9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Write-off rate by count: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12.5% on matured loans.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0040" y="940891"/>
            <a:ext cx="5459871" cy="5459512"/>
          </a:xfrm>
          <a:prstGeom prst="roundRect">
            <a:avLst>
              <a:gd name="adj" fmla="val 1527"/>
            </a:avLst>
          </a:prstGeom>
          <a:solidFill>
            <a:srgbClr val="FFF2D9"/>
          </a:solidFill>
          <a:ln/>
        </p:spPr>
      </p:sp>
      <p:sp>
        <p:nvSpPr>
          <p:cNvPr id="19" name="Text 17"/>
          <p:cNvSpPr/>
          <p:nvPr/>
        </p:nvSpPr>
        <p:spPr>
          <a:xfrm>
            <a:off x="6275727" y="1021854"/>
            <a:ext cx="5228499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Finding: The Delinquency Cliff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5727" y="1283692"/>
            <a:ext cx="5228499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portfolio exhibits a stark delinquency cliff: </a:t>
            </a:r>
            <a:pPr algn="l" indent="0" marL="0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very little fresh delinquency exists in the 1–90 day window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Once loans remain unpaid past maturity, residual exposure tends to harden rapidly into severe delinquency (PAR120+). This is not a gradual aging curve — it is a near-binary outcome.</a:t>
            </a:r>
            <a:endParaRPr lang="en-US" sz="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5727" y="2004616"/>
            <a:ext cx="5228499" cy="83353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54911" y="2133005"/>
            <a:ext cx="492092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54911" y="2394843"/>
            <a:ext cx="492092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window for effective intervention is narrow. Loans that do not settle quickly tend not to settle at all without active collections engagement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5727" y="2919115"/>
            <a:ext cx="5228499" cy="83353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54911" y="3047504"/>
            <a:ext cx="492092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Early-Collections Gap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54911" y="3309342"/>
            <a:ext cx="492092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Intervention before delinquency hardens (days 1–90) likely has greater economic value than late-stage recovery efforts on PAR120+ exposure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727" y="3833614"/>
            <a:ext cx="5228499" cy="83353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54911" y="3962003"/>
            <a:ext cx="492092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Methodological Note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454911" y="4223841"/>
            <a:ext cx="492092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DPD and PAR calculated at loan-maturity level. Source data lacks installment-level repayment schedules, which limits intra-period delinquency tracking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275727" y="4758234"/>
            <a:ext cx="5228499" cy="675977"/>
          </a:xfrm>
          <a:prstGeom prst="roundRect">
            <a:avLst>
              <a:gd name="adj" fmla="val 7193"/>
            </a:avLst>
          </a:prstGeom>
          <a:solidFill>
            <a:srgbClr val="D6F5EE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413" y="4887416"/>
            <a:ext cx="144657" cy="11568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51756" y="4860032"/>
            <a:ext cx="473678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delinquency cliff is the single most actionable structural finding in this analysis. It directly motivates the immediate recommendation to stand up early-collections infrastructure.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0680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Recovery Is Limited — and Product Economics Diverge Sharply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604823" y="1370013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23.4%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661475" y="1830884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Gross Recovery Rate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2040632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due date on defaulted exposure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82851" y="1370013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0.24%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6139503" y="1830884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Post-Write-off Recovery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39503" y="2040632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Near-zero recovery once loans are written off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4823" y="2375892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KES 14.0B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661475" y="2836763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Net Income Proxy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1475" y="3046512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 across all analytical loans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82851" y="2375892"/>
            <a:ext cx="3503922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17.0%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6139503" y="2836763"/>
            <a:ext cx="539071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 NIM Proxy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39503" y="3046512"/>
            <a:ext cx="5390717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Loan-level average profitability proxy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4086" y="3266976"/>
            <a:ext cx="5458085" cy="2750344"/>
          </a:xfrm>
          <a:prstGeom prst="roundRect">
            <a:avLst>
              <a:gd name="adj" fmla="val 2814"/>
            </a:avLst>
          </a:prstGeom>
          <a:solidFill>
            <a:srgbClr val="DD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691537" y="3336826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CASH_SALES Economics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1537" y="3583285"/>
            <a:ext cx="2586667" cy="607219"/>
          </a:xfrm>
          <a:prstGeom prst="roundRect">
            <a:avLst>
              <a:gd name="adj" fmla="val 743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5338" y="3697089"/>
            <a:ext cx="235906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NIM Proxy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5338" y="3934817"/>
            <a:ext cx="2359065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+19.1%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average loan-level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48053" y="3583285"/>
            <a:ext cx="2586667" cy="607219"/>
          </a:xfrm>
          <a:prstGeom prst="roundRect">
            <a:avLst>
              <a:gd name="adj" fmla="val 743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1854" y="3697089"/>
            <a:ext cx="235906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Net Income Proxy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61854" y="3934817"/>
            <a:ext cx="2359065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~KES 14.89B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aggregate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1537" y="4260354"/>
            <a:ext cx="5243183" cy="607219"/>
          </a:xfrm>
          <a:prstGeom prst="roundRect">
            <a:avLst>
              <a:gd name="adj" fmla="val 743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338" y="4374158"/>
            <a:ext cx="50155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Write-off Rate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5338" y="4611886"/>
            <a:ext cx="501558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11.8%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count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1537" y="4946154"/>
            <a:ext cx="524318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CASH_SALES generates positive economics at scale despite a 62.4% default rate — interest yield and recovery together outpace credit losses on this product.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55873" y="3266976"/>
            <a:ext cx="5458085" cy="2750344"/>
          </a:xfrm>
          <a:prstGeom prst="roundRect">
            <a:avLst>
              <a:gd name="adj" fmla="val 2814"/>
            </a:avLst>
          </a:prstGeom>
          <a:solidFill>
            <a:srgbClr val="F3FBFF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325" y="3336826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VERIFIED_SALES Economics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325" y="3583285"/>
            <a:ext cx="2586667" cy="619919"/>
          </a:xfrm>
          <a:prstGeom prst="roundRect">
            <a:avLst>
              <a:gd name="adj" fmla="val 7283"/>
            </a:avLst>
          </a:prstGeom>
          <a:solidFill>
            <a:srgbClr val="F3FB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3475" y="3703439"/>
            <a:ext cx="234636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NIM Proxy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83475" y="3941167"/>
            <a:ext cx="2346366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-8.4%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average loan-level — negative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919840" y="3583285"/>
            <a:ext cx="2586667" cy="619919"/>
          </a:xfrm>
          <a:prstGeom prst="roundRect">
            <a:avLst>
              <a:gd name="adj" fmla="val 7283"/>
            </a:avLst>
          </a:prstGeom>
          <a:solidFill>
            <a:srgbClr val="F3FB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9991" y="3703439"/>
            <a:ext cx="234636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Net Income Proxy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39991" y="3941167"/>
            <a:ext cx="2346366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~KES -893M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aggregate loss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63325" y="4273054"/>
            <a:ext cx="5243183" cy="619919"/>
          </a:xfrm>
          <a:prstGeom prst="roundRect">
            <a:avLst>
              <a:gd name="adj" fmla="val 7283"/>
            </a:avLst>
          </a:prstGeom>
          <a:solidFill>
            <a:srgbClr val="F3FBFF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3475" y="4393208"/>
            <a:ext cx="50028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Write-off Rate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83475" y="4630936"/>
            <a:ext cx="5002881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21.4%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count — nearly 2× CASH_SALES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3325" y="4971554"/>
            <a:ext cx="524318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VERIFIED_SALES shows negative economics in aggregate. The 21.4% write-off rate combined with a -8.4% NIM proxy indicates credit losses are outpacing interest income on this product.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63325" y="5333901"/>
            <a:ext cx="5243183" cy="604838"/>
          </a:xfrm>
          <a:prstGeom prst="roundRect">
            <a:avLst>
              <a:gd name="adj" fmla="val 7465"/>
            </a:avLst>
          </a:prstGeom>
          <a:solidFill>
            <a:srgbClr val="FCF2B5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0776" y="5444430"/>
            <a:ext cx="134339" cy="10745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612566" y="5423495"/>
            <a:ext cx="478649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Caveat: This is a profitability proxy, not accounting NIM. The dataset lacks funding-cost and average-earning-asset data. Product differences may reflect borrower segments or policies — not causation.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7738"/>
            <a:ext cx="10868745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Risk Is Concentrated in Larger Loans and Specific Product Segments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742877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Default Rate by Product &amp; Loan Size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26059"/>
            <a:ext cx="4727457" cy="34051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6610" y="1608931"/>
            <a:ext cx="5467114" cy="4771330"/>
          </a:xfrm>
          <a:prstGeom prst="roundRect">
            <a:avLst>
              <a:gd name="adj" fmla="val 2246"/>
            </a:avLst>
          </a:prstGeom>
          <a:solidFill>
            <a:srgbClr val="EAFBF7"/>
          </a:solidFill>
          <a:ln/>
        </p:spPr>
      </p:sp>
      <p:sp>
        <p:nvSpPr>
          <p:cNvPr id="6" name="Text 3"/>
          <p:cNvSpPr/>
          <p:nvPr/>
        </p:nvSpPr>
        <p:spPr>
          <a:xfrm>
            <a:off x="6325434" y="1742877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Highest Risk × Exposure Segments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5434" y="2126059"/>
          <a:ext cx="9143771" cy="914400"/>
        </p:xfrm>
        <a:graphic>
          <a:graphicData uri="http://schemas.openxmlformats.org/drawingml/2006/table">
            <a:tbl>
              <a:tblPr/>
              <a:tblGrid>
                <a:gridCol w="1292366"/>
                <a:gridCol w="1292366"/>
                <a:gridCol w="1292366"/>
                <a:gridCol w="1292366"/>
              </a:tblGrid>
              <a:tr h="629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Segment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Disbursed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Default Exposure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Default Rate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</a:tr>
              <a:tr h="6322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CASH_SALES + Large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KES 39.4B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KES 36.6B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71.0%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</a:tr>
              <a:tr h="6290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VERIFIED_SALES + Large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KES 10.0B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KES 7.7B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71.2%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EA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25434" y="4179788"/>
            <a:ext cx="516946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large-loan segments carry default rates above 71% and represent the largest absolute exposure concentrations in the portfolio. CASH_SALES + Large alone accounts for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KES 36.6B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default exposure.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325434" y="5009158"/>
            <a:ext cx="5169465" cy="1220391"/>
          </a:xfrm>
          <a:prstGeom prst="roundRect">
            <a:avLst>
              <a:gd name="adj" fmla="val 5123"/>
            </a:avLst>
          </a:prstGeom>
          <a:solidFill>
            <a:srgbClr val="D6F5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258" y="5215136"/>
            <a:ext cx="186031" cy="1488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09113" y="5166916"/>
            <a:ext cx="4536961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Critical insight: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Portfolio action must consider both default rate and absolute exposure. A segment with a high rate but small volume is less urgent than one with a high rate and large absolute KES exposure.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610"/>
            <a:ext cx="1086874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Origination Variables Show Statistically Detectable Risk Signals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227" y="1581249"/>
            <a:ext cx="5463542" cy="4681041"/>
          </a:xfrm>
          <a:prstGeom prst="roundRect">
            <a:avLst>
              <a:gd name="adj" fmla="val 2035"/>
            </a:avLst>
          </a:prstGeom>
          <a:solidFill>
            <a:srgbClr val="D9F6F1"/>
          </a:solidFill>
          <a:ln/>
        </p:spPr>
      </p:sp>
      <p:sp>
        <p:nvSpPr>
          <p:cNvPr id="4" name="Text 2"/>
          <p:cNvSpPr/>
          <p:nvPr/>
        </p:nvSpPr>
        <p:spPr>
          <a:xfrm>
            <a:off x="698483" y="1687016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Statistical Testing Approach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8483" y="201275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8483" y="2218432"/>
            <a:ext cx="5199032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7" name="Text 5"/>
          <p:cNvSpPr/>
          <p:nvPr/>
        </p:nvSpPr>
        <p:spPr>
          <a:xfrm>
            <a:off x="698483" y="2322612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Chi-Square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83" y="2635052"/>
            <a:ext cx="51990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categorical variable association (e.g., product type vs. default outcome)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83" y="3030538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8483" y="3236218"/>
            <a:ext cx="5199032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1" name="Text 9"/>
          <p:cNvSpPr/>
          <p:nvPr/>
        </p:nvSpPr>
        <p:spPr>
          <a:xfrm>
            <a:off x="698483" y="3340398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Mann-Whitney U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483" y="3652838"/>
            <a:ext cx="51990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skewed continuous variables (e.g., disbursed amount, gross interest) — non-parametric, appropriate for this data distribution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8483" y="423882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8483" y="4444504"/>
            <a:ext cx="5199032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5" name="Text 13"/>
          <p:cNvSpPr/>
          <p:nvPr/>
        </p:nvSpPr>
        <p:spPr>
          <a:xfrm>
            <a:off x="698483" y="4548684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Origination-Only Variables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8483" y="4861123"/>
            <a:ext cx="51990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post-default information used. All features are known at loan origination time 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8483" y="5460405"/>
            <a:ext cx="5199032" cy="637580"/>
          </a:xfrm>
          <a:prstGeom prst="roundRect">
            <a:avLst>
              <a:gd name="adj" fmla="val 8716"/>
            </a:avLst>
          </a:prstGeom>
          <a:solidFill>
            <a:srgbClr val="D6F5EE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738" y="5629473"/>
            <a:ext cx="165294" cy="1322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28287" y="5588695"/>
            <a:ext cx="46369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Association does not establish causation.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Statistical significance indicates a detectable relationship, not a causal mechanism.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523" y="1687016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Statistical Findings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523" y="2012752"/>
            <a:ext cx="2583592" cy="177423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91026" y="2164060"/>
            <a:ext cx="2204784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 Type vs. Default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91026" y="2683173"/>
            <a:ext cx="220478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χ² =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339.4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 =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8.74 × 10⁻⁷⁶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highly significant association. Product type is among the strongest categorical predictors of default at origination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2879" y="2012752"/>
            <a:ext cx="2583691" cy="17742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80382" y="2164060"/>
            <a:ext cx="2204883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Disbursed Amount (Median)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9180382" y="2683173"/>
            <a:ext cx="220488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Defaulted loans: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KES 360K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non-defaulted: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KES 300K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Larger loans are associated with higher default probability</a:t>
            </a:r>
            <a:endParaRPr lang="en-US" sz="1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3523" y="3892748"/>
            <a:ext cx="2583592" cy="158373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91026" y="4044057"/>
            <a:ext cx="2204784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Gross Loan Interest (Median)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491026" y="4563170"/>
            <a:ext cx="220478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Defaulted: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KES 108K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non-defaulted: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KES 81K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Higher-interest loans are associated with elevated default risk</a:t>
            </a:r>
            <a:endParaRPr lang="en-US" sz="10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52879" y="3892748"/>
            <a:ext cx="2583691" cy="158373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80382" y="4044057"/>
            <a:ext cx="22048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Initiation Fee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180382" y="4356497"/>
            <a:ext cx="220488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statistically significant at the reported level — does not independently predict default in this analysis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263523" y="5595541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Interpretation: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Larger and higher-interest loans are associated with greater default risk. These variables may reflect borrower segments, product policies, loan size, or other underlying factors — not a direct causal relationship.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384"/>
            <a:ext cx="10868745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Origination-Only Model Provides a Useful but Modest Risk Signal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2180" y="1577181"/>
            <a:ext cx="5461657" cy="4618335"/>
          </a:xfrm>
          <a:prstGeom prst="roundRect">
            <a:avLst>
              <a:gd name="adj" fmla="val 1934"/>
            </a:avLst>
          </a:prstGeom>
          <a:solidFill>
            <a:srgbClr val="DFF7F2"/>
          </a:solidFill>
          <a:ln/>
        </p:spPr>
      </p:sp>
      <p:sp>
        <p:nvSpPr>
          <p:cNvPr id="4" name="Text 2"/>
          <p:cNvSpPr/>
          <p:nvPr/>
        </p:nvSpPr>
        <p:spPr>
          <a:xfrm>
            <a:off x="696201" y="1670149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Model Design &amp; Validation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6201" y="1968500"/>
            <a:ext cx="2560276" cy="1274862"/>
          </a:xfrm>
          <a:prstGeom prst="roundRect">
            <a:avLst>
              <a:gd name="adj" fmla="val 4087"/>
            </a:avLst>
          </a:prstGeom>
          <a:solidFill>
            <a:srgbClr val="DFF7F2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921" y="2105223"/>
            <a:ext cx="228683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Features Used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921" y="2391966"/>
            <a:ext cx="2286836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Disbursed amount, gross loan interest, tenor, origination fees, product type — all known at origination only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9442" y="1968500"/>
            <a:ext cx="2560375" cy="1274862"/>
          </a:xfrm>
          <a:prstGeom prst="roundRect">
            <a:avLst>
              <a:gd name="adj" fmla="val 4087"/>
            </a:avLst>
          </a:prstGeom>
          <a:solidFill>
            <a:srgbClr val="DFF7F2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6162" y="2105223"/>
            <a:ext cx="2286935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Post-Default Leakage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86162" y="2585740"/>
            <a:ext cx="2286935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post-default information included. Model is a true origination-time predictor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6201" y="3336330"/>
            <a:ext cx="5213616" cy="733822"/>
          </a:xfrm>
          <a:prstGeom prst="roundRect">
            <a:avLst>
              <a:gd name="adj" fmla="val 7100"/>
            </a:avLst>
          </a:prstGeom>
          <a:solidFill>
            <a:srgbClr val="DFF7F2"/>
          </a:solidFill>
          <a:ln w="1270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921" y="3473053"/>
            <a:ext cx="494017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921" y="3759795"/>
            <a:ext cx="4940176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 80/20 split based on disbursement date — prevents look-ahead bias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6201" y="4174728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Model Performance Comparison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6201" y="4473079"/>
          <a:ext cx="9143771" cy="914400"/>
        </p:xfrm>
        <a:graphic>
          <a:graphicData uri="http://schemas.openxmlformats.org/drawingml/2006/table">
            <a:tbl>
              <a:tblPr/>
              <a:tblGrid>
                <a:gridCol w="1737872"/>
                <a:gridCol w="1737872"/>
                <a:gridCol w="1737872"/>
              </a:tblGrid>
              <a:tr h="301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Metric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Logistic Regression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Random Forest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ROC-AUC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0.633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0.632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PR-AUC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0.605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0.604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</a:tr>
              <a:tr h="301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Brier Score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0.239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0.240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FF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7F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164208" y="1577181"/>
            <a:ext cx="5461657" cy="4618335"/>
          </a:xfrm>
          <a:prstGeom prst="roundRect">
            <a:avLst>
              <a:gd name="adj" fmla="val 1934"/>
            </a:avLst>
          </a:prstGeom>
          <a:solidFill>
            <a:srgbClr val="F4FBFA"/>
          </a:solidFill>
          <a:ln/>
        </p:spPr>
      </p:sp>
      <p:sp>
        <p:nvSpPr>
          <p:cNvPr id="17" name="Text 14"/>
          <p:cNvSpPr/>
          <p:nvPr/>
        </p:nvSpPr>
        <p:spPr>
          <a:xfrm>
            <a:off x="6288228" y="1670149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AUC ~0.63 Means in Practice</a:t>
            </a:r>
            <a:endParaRPr lang="en-US" sz="12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5528" y="1955800"/>
            <a:ext cx="5226316" cy="6594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37648" y="1968500"/>
            <a:ext cx="506419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Meaningfully Above Random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37648" y="2255242"/>
            <a:ext cx="506419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 of 0.633 is statistically and practically above the 0.5 random baseline — the model does rank higher-risk loans above lower-risk loans with useful frequency</a:t>
            </a:r>
            <a:endParaRPr lang="en-US" sz="9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5528" y="2775843"/>
            <a:ext cx="5226316" cy="6594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37648" y="2788543"/>
            <a:ext cx="506419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Not Production-Grade Standalone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437648" y="3075285"/>
            <a:ext cx="506419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AUC ~0.63 is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not strong enough for a standalone production credit decision model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It should not be used as the sole basis for loan approval or rejection</a:t>
            </a:r>
            <a:endParaRPr lang="en-US" sz="9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528" y="3595886"/>
            <a:ext cx="5226316" cy="83304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37648" y="3608586"/>
            <a:ext cx="506419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Logistic Regression Was Retained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37648" y="3895328"/>
            <a:ext cx="5064197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models perform nearly identically. Logistic Regression is preferred for transparency, regulatory explainability, and coefficient interpretability in a credit context</a:t>
            </a:r>
            <a:endParaRPr lang="en-US" sz="9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5528" y="4589562"/>
            <a:ext cx="5226316" cy="6594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37648" y="4602262"/>
            <a:ext cx="506419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Path to Stronger Performance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437648" y="4889004"/>
            <a:ext cx="506419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Behavioral features (repayment history, account activity) and bureau data are needed to materially improve predictive performance beyond the current ~0.63 AUC ceiling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88228" y="5340846"/>
            <a:ext cx="5213616" cy="750094"/>
          </a:xfrm>
          <a:prstGeom prst="roundRect">
            <a:avLst>
              <a:gd name="adj" fmla="val 6946"/>
            </a:avLst>
          </a:prstGeom>
          <a:solidFill>
            <a:srgbClr val="D6F5EE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2248" y="5489575"/>
            <a:ext cx="154976" cy="12402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1244" y="5455444"/>
            <a:ext cx="468658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model's appropriate near-term use is as an advisory risk-banding tool to prioritize collections and flag high-risk originations — not as a blocking credit decision engine.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0746"/>
            <a:ext cx="10868745" cy="671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Move From Statistical Significance to Economic Decision-Making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84086" y="1507430"/>
            <a:ext cx="5458085" cy="4619823"/>
          </a:xfrm>
          <a:prstGeom prst="roundRect">
            <a:avLst>
              <a:gd name="adj" fmla="val 1675"/>
            </a:avLst>
          </a:prstGeom>
          <a:solidFill>
            <a:srgbClr val="DFF7F2"/>
          </a:solidFill>
          <a:ln/>
        </p:spPr>
      </p:sp>
      <p:sp>
        <p:nvSpPr>
          <p:cNvPr id="4" name="Text 2"/>
          <p:cNvSpPr/>
          <p:nvPr/>
        </p:nvSpPr>
        <p:spPr>
          <a:xfrm>
            <a:off x="691537" y="1577280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Economic Threshold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91537" y="1815009"/>
            <a:ext cx="524318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 threshold selection should be driven by portfolio economics, not the conventional 0.5 default. The analysis estimates asymmetric misclassification costs: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9089" y="2231033"/>
            <a:ext cx="3407980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KES 186K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691537" y="2691904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False-Negative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1537" y="2929632"/>
            <a:ext cx="524318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Approving a loan that defaults — estimated loss per misclassified bad loan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089" y="3264892"/>
            <a:ext cx="3407980" cy="354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KES 122K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691537" y="3725763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False-Positive Cost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1537" y="3963491"/>
            <a:ext cx="524318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Declining a loan that would have repaid — estimated foregone revenue per misclassified good loan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1537" y="4183955"/>
            <a:ext cx="524318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Because false-negative cost exceeds false-positive cost, the economically optimal threshold is </a:t>
            </a:r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lower than 0.5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model should flag more loans as high-risk to minimize expected loss.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91537" y="4546302"/>
            <a:ext cx="5243183" cy="604838"/>
          </a:xfrm>
          <a:prstGeom prst="roundRect">
            <a:avLst>
              <a:gd name="adj" fmla="val 7465"/>
            </a:avLst>
          </a:prstGeom>
          <a:solidFill>
            <a:srgbClr val="FCF2B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89" y="4656832"/>
            <a:ext cx="134339" cy="10745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40779" y="4635897"/>
            <a:ext cx="478649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Important: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calculated threshold is not a universal production policy. It depends on validated cost assumptions, model calibration, operating constraints, and business objectives. Validate before deployment.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55873" y="1507430"/>
            <a:ext cx="5458085" cy="4619823"/>
          </a:xfrm>
          <a:prstGeom prst="roundRect">
            <a:avLst>
              <a:gd name="adj" fmla="val 1675"/>
            </a:avLst>
          </a:prstGeom>
          <a:solidFill>
            <a:srgbClr val="EAF7FF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325" y="1577280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Proposed Verified-Sales A/B Experiment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325" y="1815009"/>
            <a:ext cx="524318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Hypothesis: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Verified-Sales loans with high initiation fees show elevated default and penalty behavior. A targeted intervention may reduce PAR30 without material revenue loss.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63325" y="2177355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263325" y="2347218"/>
            <a:ext cx="5243183" cy="127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325" y="2426295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Population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63325" y="2664023"/>
            <a:ext cx="524318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eligible Verified-Sales borrowers — prospective, not retrospective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263325" y="2956322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263325" y="3126184"/>
            <a:ext cx="5243183" cy="127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325" y="3205262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Random Assignment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63325" y="3442990"/>
            <a:ext cx="524318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Control: existing policy. Treatment: reduced/restructured initiation fee OR pre-due repayment reminder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263325" y="3735288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263325" y="3905151"/>
            <a:ext cx="5243183" cy="127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9" name="Text 26"/>
          <p:cNvSpPr/>
          <p:nvPr/>
        </p:nvSpPr>
        <p:spPr>
          <a:xfrm>
            <a:off x="6263325" y="3984228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Primary Outcome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263325" y="4221956"/>
            <a:ext cx="5243183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30-day default / PAR30. Secondary: PAR90, recovery rate, revenue, repayment completion, complaints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263325" y="4514255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263325" y="4684117"/>
            <a:ext cx="5243183" cy="127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33" name="Text 30"/>
          <p:cNvSpPr/>
          <p:nvPr/>
        </p:nvSpPr>
        <p:spPr>
          <a:xfrm>
            <a:off x="6263325" y="4763195"/>
            <a:ext cx="524318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Sample Size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263325" y="5000923"/>
            <a:ext cx="5243183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1,372 per arm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sized to detect a 5-percentage-point absolute reduction at α=0.05, 80% power. Baseline default rate: 70.2%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263325" y="5443835"/>
            <a:ext cx="5243183" cy="604838"/>
          </a:xfrm>
          <a:prstGeom prst="roundRect">
            <a:avLst>
              <a:gd name="adj" fmla="val 7465"/>
            </a:avLst>
          </a:prstGeom>
          <a:solidFill>
            <a:srgbClr val="D6F5EE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776" y="5554365"/>
            <a:ext cx="134339" cy="10745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612566" y="5533430"/>
            <a:ext cx="478649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Critical principle:</a:t>
            </a:r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Experiment before portfolio-wide policy change. The statistical associations observed do not justify blanket product restrictions without causal evidence from a controlled trial.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6313"/>
            <a:ext cx="10868745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From Analysis to Action: A Risk-Management Roadmap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4740"/>
            <a:ext cx="3622882" cy="3963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0493" y="1390452"/>
            <a:ext cx="3424846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Immediate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60493" y="1580952"/>
            <a:ext cx="34248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0–1 Month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934740"/>
            <a:ext cx="3622882" cy="3963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3375" y="1390452"/>
            <a:ext cx="3424846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Medium Term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383375" y="1580952"/>
            <a:ext cx="34248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1–6 Months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934740"/>
            <a:ext cx="3622882" cy="3963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06257" y="1390452"/>
            <a:ext cx="3424846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Long Term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8006257" y="1580952"/>
            <a:ext cx="34248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6+ Months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590138" y="1873548"/>
            <a:ext cx="5456200" cy="3995539"/>
          </a:xfrm>
          <a:prstGeom prst="roundRect">
            <a:avLst>
              <a:gd name="adj" fmla="val 1786"/>
            </a:avLst>
          </a:prstGeom>
          <a:solidFill>
            <a:srgbClr val="D9F3EE"/>
          </a:solidFill>
          <a:ln/>
        </p:spPr>
      </p:sp>
      <p:sp>
        <p:nvSpPr>
          <p:cNvPr id="13" name="Text 8"/>
          <p:cNvSpPr/>
          <p:nvPr/>
        </p:nvSpPr>
        <p:spPr>
          <a:xfrm>
            <a:off x="689156" y="1932880"/>
            <a:ext cx="525816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Immediate — 0–1 Month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89156" y="2154535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6263" y="2173089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971426" y="2188567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Early-Delinquency Collections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971426" y="2402780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 up collections infrastructure for days 1–90 past due. The delinquency cliff finding shows this window is where intervention has the highest expected value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689156" y="2775148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26263" y="2793702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971426" y="2809180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Underwriting Scrutiny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971426" y="3023394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 scrutiny for large, high-interest Verified-Sales loans without automatically excluding the product — await causal evidence from the experiment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689156" y="3395762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26263" y="3414316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971426" y="3429794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Fix Loan-Code Collisions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971426" y="3644007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Resolve the loan_code ambiguity problem at source to restore full analytical coverage and eliminate the ~15% data-quality exclusion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6151706" y="1873548"/>
            <a:ext cx="5456200" cy="3995539"/>
          </a:xfrm>
          <a:prstGeom prst="roundRect">
            <a:avLst>
              <a:gd name="adj" fmla="val 1786"/>
            </a:avLst>
          </a:prstGeom>
          <a:solidFill>
            <a:srgbClr val="EEF7FF"/>
          </a:solidFill>
          <a:ln/>
        </p:spPr>
      </p:sp>
      <p:sp>
        <p:nvSpPr>
          <p:cNvPr id="27" name="Text 22"/>
          <p:cNvSpPr/>
          <p:nvPr/>
        </p:nvSpPr>
        <p:spPr>
          <a:xfrm>
            <a:off x="6250724" y="1932880"/>
            <a:ext cx="525816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Medium Term — 1–6 Months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250724" y="2154535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87831" y="2173089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532994" y="2188567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Run the A/B Experiment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532994" y="2402780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 the Verified-Sales initiation-fee / pre-due reminder experiment (1,372 per arm) to generate causal evidence before any pricing or product policy change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6250724" y="2775148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87831" y="2793702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532994" y="2809180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Deploy PD Scorecard (Advisory)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532994" y="3023394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the Logistic Regression PD scorecard in non-blocking advisory mode; use risk bands to prioritize collections queues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6250724" y="3395762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87831" y="3414316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6532994" y="3429794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Revisit Pricing &amp; Limits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532994" y="3644007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causal evidence is available from the experiment, revisit pricing, limits, and product eligibility criteria with an evidence base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6250724" y="3964384"/>
            <a:ext cx="525816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Long Term — 6+ Months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250724" y="4186039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287831" y="4204593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6532994" y="4220071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Installment-Level Data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532994" y="4434284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an installment-level repayment schedule to enable intra-period DPD tracking and more granular PAR reporting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6250724" y="4806652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287831" y="4825206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6532994" y="4840684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ECL Framework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6532994" y="5054898"/>
            <a:ext cx="49758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formal expected-credit-loss framework (PD × LGD × EAD) for provisioning and IFRS 9 alignment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6250724" y="5300464"/>
            <a:ext cx="222939" cy="222945"/>
          </a:xfrm>
          <a:prstGeom prst="roundRect">
            <a:avLst>
              <a:gd name="adj" fmla="val 18671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287831" y="5319018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150" dirty="0"/>
          </a:p>
        </p:txBody>
      </p:sp>
      <p:sp>
        <p:nvSpPr>
          <p:cNvPr id="51" name="Text 46"/>
          <p:cNvSpPr/>
          <p:nvPr/>
        </p:nvSpPr>
        <p:spPr>
          <a:xfrm>
            <a:off x="6532994" y="5334496"/>
            <a:ext cx="4975894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Behavioral &amp; Bureau Features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6532994" y="5548709"/>
            <a:ext cx="497589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behavioral and bureau data to improve predictive performance materially beyond the current ~0.63 AUC ceiling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661475" y="5935861"/>
            <a:ext cx="10868745" cy="415727"/>
          </a:xfrm>
          <a:prstGeom prst="roundRect">
            <a:avLst>
              <a:gd name="adj" fmla="val 10012"/>
            </a:avLst>
          </a:prstGeom>
          <a:solidFill>
            <a:srgbClr val="D6F5EE"/>
          </a:solidFill>
          <a:ln/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93" y="6022082"/>
            <a:ext cx="123822" cy="9902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983332" y="6019899"/>
            <a:ext cx="1044787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Monitoring Framework:</a:t>
            </a:r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 quality → Risk analytics → Experimentation → PD scorecard → Monitoring → Better credit decisions. Track: data drift, prediction drift, calibration, ROC-AUC/PR-AUC, recall at operating threshold, and outcome drift by product, cohort, and risk band.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2026-09-21T18:29:49Z</dcterms:created>
  <dcterms:modified xsi:type="dcterms:W3CDTF">2026-09-21T18:29:49Z</dcterms:modified>
</cp:coreProperties>
</file>